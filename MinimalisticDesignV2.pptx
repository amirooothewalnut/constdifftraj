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4.xml" ContentType="application/vnd.openxmlformats-officedocument.presentationml.notesSlide+xml"/>
  <Override PartName="/ppt/slideLayouts/slideLayout8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s/slide15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notesSlides/notesSlide12.xml" ContentType="application/vnd.openxmlformats-officedocument.presentationml.notesSlide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2A6A06-7907-0DAA-1544-0BDBF03F5BD8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BDEABE-A0DF-6376-1175-17373E58EA69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C71951-A37A-0614-975F-C184DDB6BBE8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9D7059-BA70-ABCC-A15A-40A5A79C0063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98878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06437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83377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30980D-2BC0-96DA-B4B5-31846BFA3D11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006DEA-8689-BB6C-D859-EE8CCA95FEAE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696BEF0-D11B-AD68-0997-453BE29060CF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7976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95632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6298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CA9B7E-6A9C-147B-0AC1-0EFD10F4BC87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FE5711-6E3D-4645-6B1C-A0AB50C81770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68305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07381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6612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894457-762F-C573-EF85-67EAEF6350D6}" type="slidenum">
              <a:rPr/>
              <a:t/>
            </a:fld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72058E-0A6C-ECF9-F4B0-184B3228EED2}" type="slidenum">
              <a:rPr/>
              <a:t/>
            </a:fld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A6F0B3-19B1-7313-AA7D-E233ED9B0BF5}" type="slidenum">
              <a:rPr/>
              <a:t/>
            </a:fld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CBE7B1-7F28-62AD-F404-C6EA9E6DDB8B}" type="slidenum">
              <a:rPr/>
              <a:t/>
            </a:fld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15052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80316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0893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6334D0-E194-C73F-F88C-04DFFE0B8D73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Structure of the minimalist model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Amir Mohammad Esmaieeli Sikaroudi</a:t>
            </a:r>
            <a:endParaRPr lang="en-US"/>
          </a:p>
        </p:txBody>
      </p:sp>
      <p:pic>
        <p:nvPicPr>
          <p:cNvPr id="1959582852" name=""/>
          <p:cNvPicPr>
            <a:picLocks noChangeAspect="1"/>
          </p:cNvPicPr>
          <p:nvPr/>
        </p:nvPicPr>
        <p:blipFill>
          <a:blip r:embed="rId3"/>
          <a:srcRect l="12959" t="33503" r="10837" b="31805"/>
          <a:stretch/>
        </p:blipFill>
        <p:spPr bwMode="auto">
          <a:xfrm flipH="0" flipV="0">
            <a:off x="47645" y="5954022"/>
            <a:ext cx="2605366" cy="889547"/>
          </a:xfrm>
          <a:prstGeom prst="rect">
            <a:avLst/>
          </a:prstGeom>
        </p:spPr>
      </p:pic>
      <p:sp>
        <p:nvSpPr>
          <p:cNvPr id="558165078" name=""/>
          <p:cNvSpPr/>
          <p:nvPr/>
        </p:nvSpPr>
        <p:spPr bwMode="auto">
          <a:xfrm flipH="0" flipV="0">
            <a:off x="-14733" y="-3735"/>
            <a:ext cx="9484822" cy="737719"/>
          </a:xfrm>
          <a:prstGeom prst="flowChartProcess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100000">
                <a:schemeClr val="bg1"/>
              </a:gs>
            </a:gsLst>
            <a:lin ang="0" scaled="1"/>
          </a:gra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3220087" name=""/>
          <p:cNvSpPr/>
          <p:nvPr/>
        </p:nvSpPr>
        <p:spPr bwMode="auto">
          <a:xfrm flipH="0" flipV="0">
            <a:off x="2709042" y="6105849"/>
            <a:ext cx="9484822" cy="737719"/>
          </a:xfrm>
          <a:prstGeom prst="flowChartProcess">
            <a:avLst/>
          </a:prstGeom>
          <a:gradFill>
            <a:gsLst>
              <a:gs pos="0">
                <a:schemeClr val="bg1"/>
              </a:gs>
              <a:gs pos="100000">
                <a:schemeClr val="accent2">
                  <a:lumMod val="75000"/>
                </a:schemeClr>
              </a:gs>
            </a:gsLst>
            <a:lin ang="0" scaled="1"/>
          </a:gra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64833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Structure of data</a:t>
            </a:r>
            <a:endParaRPr/>
          </a:p>
        </p:txBody>
      </p:sp>
      <p:sp>
        <p:nvSpPr>
          <p:cNvPr id="1589649786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/>
              <a:t>Synthetic trajectories with fixed length 4 and has lat/lon (4x2)</a:t>
            </a:r>
            <a:endParaRPr/>
          </a:p>
          <a:p>
            <a:pPr>
              <a:defRPr/>
            </a:pPr>
            <a:r>
              <a:rPr/>
              <a:t>Trajectories are built on a grid of pixels in [0,1] range</a:t>
            </a:r>
            <a:endParaRPr/>
          </a:p>
          <a:p>
            <a:pPr>
              <a:defRPr/>
            </a:pPr>
            <a:r>
              <a:rPr/>
              <a:t>Pixels are either allowed to moved or not</a:t>
            </a:r>
            <a:endParaRPr/>
          </a:p>
          <a:p>
            <a:pPr>
              <a:defRPr/>
            </a:pPr>
            <a:r>
              <a:rPr/>
              <a:t>Setup of pixels is random with fixed seed number</a:t>
            </a:r>
            <a:endParaRPr/>
          </a:p>
          <a:p>
            <a:pPr>
              <a:defRPr/>
            </a:pPr>
            <a:r>
              <a:rPr/>
              <a:t>Each trajectory is made by a sequence of moves to adjacent allowed pixels</a:t>
            </a:r>
            <a:endParaRPr/>
          </a:p>
          <a:p>
            <a:pPr>
              <a:defRPr/>
            </a:pPr>
            <a:r>
              <a:rPr/>
              <a:t>Adjacency is simply defined by 8 neighboring pixels</a:t>
            </a:r>
            <a:endParaRPr/>
          </a:p>
          <a:p>
            <a:pPr>
              <a:defRPr/>
            </a:pPr>
            <a:r>
              <a:rPr/>
              <a:t>1000 sample trajectories is generated for training</a:t>
            </a:r>
            <a:endParaRPr/>
          </a:p>
        </p:txBody>
      </p:sp>
      <p:sp>
        <p:nvSpPr>
          <p:cNvPr id="1824745547" name=""/>
          <p:cNvSpPr/>
          <p:nvPr/>
        </p:nvSpPr>
        <p:spPr bwMode="auto">
          <a:xfrm flipH="0" flipV="0">
            <a:off x="-14733" y="-3735"/>
            <a:ext cx="9484822" cy="737719"/>
          </a:xfrm>
          <a:prstGeom prst="flowChartProcess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100000">
                <a:schemeClr val="bg1"/>
              </a:gs>
            </a:gsLst>
            <a:lin ang="0" scaled="1"/>
          </a:gra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884769885" name=""/>
          <p:cNvPicPr>
            <a:picLocks noChangeAspect="1"/>
          </p:cNvPicPr>
          <p:nvPr/>
        </p:nvPicPr>
        <p:blipFill>
          <a:blip r:embed="rId3"/>
          <a:srcRect l="12959" t="33503" r="10837" b="31805"/>
          <a:stretch/>
        </p:blipFill>
        <p:spPr bwMode="auto">
          <a:xfrm flipH="0" flipV="0">
            <a:off x="47645" y="5954022"/>
            <a:ext cx="2605366" cy="889547"/>
          </a:xfrm>
          <a:prstGeom prst="rect">
            <a:avLst/>
          </a:prstGeom>
        </p:spPr>
      </p:pic>
      <p:sp>
        <p:nvSpPr>
          <p:cNvPr id="1348998003" name=""/>
          <p:cNvSpPr/>
          <p:nvPr/>
        </p:nvSpPr>
        <p:spPr bwMode="auto">
          <a:xfrm flipH="0" flipV="0">
            <a:off x="2709043" y="6105850"/>
            <a:ext cx="9484823" cy="737720"/>
          </a:xfrm>
          <a:prstGeom prst="flowChartProcess">
            <a:avLst/>
          </a:prstGeom>
          <a:gradFill>
            <a:gsLst>
              <a:gs pos="0">
                <a:schemeClr val="bg1"/>
              </a:gs>
              <a:gs pos="100000">
                <a:schemeClr val="accent2">
                  <a:lumMod val="75000"/>
                </a:schemeClr>
              </a:gs>
            </a:gsLst>
            <a:lin ang="0" scaled="1"/>
          </a:gra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50760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Example dataset</a:t>
            </a:r>
            <a:endParaRPr/>
          </a:p>
        </p:txBody>
      </p:sp>
      <p:sp>
        <p:nvSpPr>
          <p:cNvPr id="4461993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1825624"/>
            <a:ext cx="4504226" cy="4351338"/>
          </a:xfrm>
        </p:spPr>
        <p:txBody>
          <a:bodyPr/>
          <a:lstStyle/>
          <a:p>
            <a:pPr>
              <a:defRPr/>
            </a:pPr>
            <a:r>
              <a:rPr/>
              <a:t>Isolated pixels are excluded so that trajectories with the same lat/lon all along won’t be created.</a:t>
            </a:r>
            <a:endParaRPr/>
          </a:p>
        </p:txBody>
      </p:sp>
      <p:sp>
        <p:nvSpPr>
          <p:cNvPr id="760390223" name=""/>
          <p:cNvSpPr/>
          <p:nvPr/>
        </p:nvSpPr>
        <p:spPr bwMode="auto">
          <a:xfrm flipH="0" flipV="0">
            <a:off x="-14733" y="-3735"/>
            <a:ext cx="9484822" cy="737719"/>
          </a:xfrm>
          <a:prstGeom prst="flowChartProcess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100000">
                <a:schemeClr val="bg1"/>
              </a:gs>
            </a:gsLst>
            <a:lin ang="0" scaled="1"/>
          </a:gra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0556840" name=""/>
          <p:cNvSpPr/>
          <p:nvPr/>
        </p:nvSpPr>
        <p:spPr bwMode="auto">
          <a:xfrm flipH="0" flipV="0">
            <a:off x="2709042" y="6105849"/>
            <a:ext cx="9484822" cy="737719"/>
          </a:xfrm>
          <a:prstGeom prst="flowChartProcess">
            <a:avLst/>
          </a:prstGeom>
          <a:gradFill>
            <a:gsLst>
              <a:gs pos="0">
                <a:schemeClr val="bg1"/>
              </a:gs>
              <a:gs pos="100000">
                <a:schemeClr val="accent2">
                  <a:lumMod val="75000"/>
                </a:schemeClr>
              </a:gs>
            </a:gsLst>
            <a:lin ang="0" scaled="1"/>
          </a:gra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2042294644" name=""/>
          <p:cNvPicPr>
            <a:picLocks noChangeAspect="1"/>
          </p:cNvPicPr>
          <p:nvPr/>
        </p:nvPicPr>
        <p:blipFill>
          <a:blip r:embed="rId3"/>
          <a:srcRect l="12959" t="33503" r="10837" b="31805"/>
          <a:stretch/>
        </p:blipFill>
        <p:spPr bwMode="auto">
          <a:xfrm flipH="0" flipV="0">
            <a:off x="47645" y="5954022"/>
            <a:ext cx="2605366" cy="889547"/>
          </a:xfrm>
          <a:prstGeom prst="rect">
            <a:avLst/>
          </a:prstGeom>
        </p:spPr>
      </p:pic>
      <p:pic>
        <p:nvPicPr>
          <p:cNvPr id="92526935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418617" y="137645"/>
            <a:ext cx="6692139" cy="65827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239592" name=""/>
          <p:cNvSpPr/>
          <p:nvPr/>
        </p:nvSpPr>
        <p:spPr bwMode="auto">
          <a:xfrm flipH="0" flipV="0">
            <a:off x="-14733" y="-3735"/>
            <a:ext cx="9484822" cy="737719"/>
          </a:xfrm>
          <a:prstGeom prst="flowChartProcess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100000">
                <a:schemeClr val="bg1"/>
              </a:gs>
            </a:gsLst>
            <a:lin ang="0" scaled="1"/>
          </a:gra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658152" name=""/>
          <p:cNvSpPr/>
          <p:nvPr/>
        </p:nvSpPr>
        <p:spPr bwMode="auto">
          <a:xfrm flipH="0" flipV="0">
            <a:off x="2709042" y="6105849"/>
            <a:ext cx="9484822" cy="737719"/>
          </a:xfrm>
          <a:prstGeom prst="flowChartProcess">
            <a:avLst/>
          </a:prstGeom>
          <a:gradFill>
            <a:gsLst>
              <a:gs pos="0">
                <a:schemeClr val="bg1"/>
              </a:gs>
              <a:gs pos="100000">
                <a:schemeClr val="accent2">
                  <a:lumMod val="75000"/>
                </a:schemeClr>
              </a:gs>
            </a:gsLst>
            <a:lin ang="0" scaled="1"/>
          </a:gra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62163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Old design</a:t>
            </a:r>
            <a:endParaRPr/>
          </a:p>
        </p:txBody>
      </p:sp>
      <p:pic>
        <p:nvPicPr>
          <p:cNvPr id="9971203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994635" y="188633"/>
            <a:ext cx="6425283" cy="6480731"/>
          </a:xfrm>
          <a:prstGeom prst="rect">
            <a:avLst/>
          </a:prstGeom>
        </p:spPr>
      </p:pic>
      <p:sp>
        <p:nvSpPr>
          <p:cNvPr id="1537883793" name=""/>
          <p:cNvSpPr txBox="1"/>
          <p:nvPr/>
        </p:nvSpPr>
        <p:spPr bwMode="auto">
          <a:xfrm flipH="0" flipV="0">
            <a:off x="838198" y="1738542"/>
            <a:ext cx="415222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Runtime: 20 seconds on RTX 3060 Ti</a:t>
            </a:r>
            <a:endParaRPr/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Loss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plateau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 instead of going to 0</a:t>
            </a:r>
            <a:endParaRPr/>
          </a:p>
        </p:txBody>
      </p:sp>
      <p:pic>
        <p:nvPicPr>
          <p:cNvPr id="625684295" name=""/>
          <p:cNvPicPr>
            <a:picLocks noChangeAspect="1"/>
          </p:cNvPicPr>
          <p:nvPr/>
        </p:nvPicPr>
        <p:blipFill>
          <a:blip r:embed="rId4"/>
          <a:srcRect l="12959" t="33503" r="10837" b="31805"/>
          <a:stretch/>
        </p:blipFill>
        <p:spPr bwMode="auto">
          <a:xfrm flipH="0" flipV="0">
            <a:off x="47645" y="5954022"/>
            <a:ext cx="2605366" cy="8895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1043260" name=""/>
          <p:cNvSpPr/>
          <p:nvPr/>
        </p:nvSpPr>
        <p:spPr bwMode="auto">
          <a:xfrm flipH="0" flipV="0">
            <a:off x="-14733" y="-3735"/>
            <a:ext cx="9484822" cy="737719"/>
          </a:xfrm>
          <a:prstGeom prst="flowChartProcess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100000">
                <a:schemeClr val="bg1"/>
              </a:gs>
            </a:gsLst>
            <a:lin ang="0" scaled="1"/>
          </a:gra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8141458" name=""/>
          <p:cNvSpPr/>
          <p:nvPr/>
        </p:nvSpPr>
        <p:spPr bwMode="auto">
          <a:xfrm flipH="0" flipV="0">
            <a:off x="2709042" y="6105849"/>
            <a:ext cx="9484822" cy="737719"/>
          </a:xfrm>
          <a:prstGeom prst="flowChartProcess">
            <a:avLst/>
          </a:prstGeom>
          <a:gradFill>
            <a:gsLst>
              <a:gs pos="0">
                <a:schemeClr val="bg1"/>
              </a:gs>
              <a:gs pos="100000">
                <a:schemeClr val="accent2">
                  <a:lumMod val="75000"/>
                </a:schemeClr>
              </a:gs>
            </a:gsLst>
            <a:lin ang="0" scaled="1"/>
          </a:gra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1093553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Old results</a:t>
            </a:r>
            <a:r>
              <a:rPr lang="en-US" sz="4400" b="0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, trajectory length 4</a:t>
            </a:r>
            <a:endParaRPr/>
          </a:p>
        </p:txBody>
      </p:sp>
      <p:sp>
        <p:nvSpPr>
          <p:cNvPr id="161710202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40821916" name=""/>
          <p:cNvPicPr>
            <a:picLocks noChangeAspect="1"/>
          </p:cNvPicPr>
          <p:nvPr/>
        </p:nvPicPr>
        <p:blipFill>
          <a:blip r:embed="rId3"/>
          <a:srcRect l="12959" t="33503" r="10837" b="31805"/>
          <a:stretch/>
        </p:blipFill>
        <p:spPr bwMode="auto">
          <a:xfrm flipH="0" flipV="0">
            <a:off x="47645" y="5954022"/>
            <a:ext cx="2605366" cy="889547"/>
          </a:xfrm>
          <a:prstGeom prst="rect">
            <a:avLst/>
          </a:prstGeom>
        </p:spPr>
      </p:pic>
      <p:pic>
        <p:nvPicPr>
          <p:cNvPr id="182301663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0194" y="1690687"/>
            <a:ext cx="12142063" cy="47953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8652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Old results</a:t>
            </a: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, trajectory length 4</a:t>
            </a:r>
            <a:endParaRPr/>
          </a:p>
        </p:txBody>
      </p:sp>
      <p:sp>
        <p:nvSpPr>
          <p:cNvPr id="1137603629" name=""/>
          <p:cNvSpPr/>
          <p:nvPr/>
        </p:nvSpPr>
        <p:spPr bwMode="auto">
          <a:xfrm flipH="0" flipV="0">
            <a:off x="-14733" y="-3735"/>
            <a:ext cx="9484822" cy="737719"/>
          </a:xfrm>
          <a:prstGeom prst="flowChartProcess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100000">
                <a:schemeClr val="bg1"/>
              </a:gs>
            </a:gsLst>
            <a:lin ang="0" scaled="1"/>
          </a:gra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50318004" name=""/>
          <p:cNvSpPr/>
          <p:nvPr/>
        </p:nvSpPr>
        <p:spPr bwMode="auto">
          <a:xfrm flipH="0" flipV="0">
            <a:off x="2709042" y="6105849"/>
            <a:ext cx="9484822" cy="737719"/>
          </a:xfrm>
          <a:prstGeom prst="flowChartProcess">
            <a:avLst/>
          </a:prstGeom>
          <a:gradFill>
            <a:gsLst>
              <a:gs pos="0">
                <a:schemeClr val="bg1"/>
              </a:gs>
              <a:gs pos="100000">
                <a:schemeClr val="accent2">
                  <a:lumMod val="75000"/>
                </a:schemeClr>
              </a:gs>
            </a:gsLst>
            <a:lin ang="0" scaled="1"/>
          </a:gra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43236192" name=""/>
          <p:cNvPicPr>
            <a:picLocks noChangeAspect="1"/>
          </p:cNvPicPr>
          <p:nvPr/>
        </p:nvPicPr>
        <p:blipFill>
          <a:blip r:embed="rId3"/>
          <a:srcRect l="12959" t="33503" r="10837" b="31805"/>
          <a:stretch/>
        </p:blipFill>
        <p:spPr bwMode="auto">
          <a:xfrm flipH="0" flipV="0">
            <a:off x="47645" y="5954022"/>
            <a:ext cx="2605366" cy="889547"/>
          </a:xfrm>
          <a:prstGeom prst="rect">
            <a:avLst/>
          </a:prstGeom>
        </p:spPr>
      </p:pic>
      <p:pic>
        <p:nvPicPr>
          <p:cNvPr id="110596817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222646" y="1500796"/>
            <a:ext cx="5332132" cy="52572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3354664" name=""/>
          <p:cNvSpPr/>
          <p:nvPr/>
        </p:nvSpPr>
        <p:spPr bwMode="auto">
          <a:xfrm flipH="0" flipV="0">
            <a:off x="-14733" y="-3735"/>
            <a:ext cx="9484822" cy="737719"/>
          </a:xfrm>
          <a:prstGeom prst="flowChartProcess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100000">
                <a:schemeClr val="bg1"/>
              </a:gs>
            </a:gsLst>
            <a:lin ang="0" scaled="1"/>
          </a:gra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4345226" name=""/>
          <p:cNvSpPr/>
          <p:nvPr/>
        </p:nvSpPr>
        <p:spPr bwMode="auto">
          <a:xfrm flipH="0" flipV="0">
            <a:off x="2709042" y="6105849"/>
            <a:ext cx="9484822" cy="737719"/>
          </a:xfrm>
          <a:prstGeom prst="flowChartProcess">
            <a:avLst/>
          </a:prstGeom>
          <a:gradFill>
            <a:gsLst>
              <a:gs pos="0">
                <a:schemeClr val="bg1"/>
              </a:gs>
              <a:gs pos="100000">
                <a:schemeClr val="accent2">
                  <a:lumMod val="75000"/>
                </a:schemeClr>
              </a:gs>
            </a:gsLst>
            <a:lin ang="0" scaled="1"/>
          </a:gra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2985977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Architecture</a:t>
            </a:r>
            <a:endParaRPr/>
          </a:p>
        </p:txBody>
      </p:sp>
      <p:pic>
        <p:nvPicPr>
          <p:cNvPr id="84067887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08388" y="156739"/>
            <a:ext cx="4579318" cy="6544520"/>
          </a:xfrm>
          <a:prstGeom prst="rect">
            <a:avLst/>
          </a:prstGeom>
        </p:spPr>
      </p:pic>
      <p:sp>
        <p:nvSpPr>
          <p:cNvPr id="148271294" name=""/>
          <p:cNvSpPr txBox="1"/>
          <p:nvPr/>
        </p:nvSpPr>
        <p:spPr bwMode="auto">
          <a:xfrm flipH="0" flipV="0">
            <a:off x="838198" y="1738543"/>
            <a:ext cx="4165548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Runtime: 30 seconds on RTX 3060 Ti</a:t>
            </a:r>
            <a:endParaRPr/>
          </a:p>
          <a:p>
            <a:pPr>
              <a:defRPr/>
            </a:pPr>
            <a:r>
              <a:rPr/>
              <a:t>Loss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plateau</a:t>
            </a:r>
            <a:r>
              <a:rPr/>
              <a:t>s instead of going to 0</a:t>
            </a:r>
            <a:endParaRPr/>
          </a:p>
        </p:txBody>
      </p:sp>
      <p:pic>
        <p:nvPicPr>
          <p:cNvPr id="841738419" name=""/>
          <p:cNvPicPr>
            <a:picLocks noChangeAspect="1"/>
          </p:cNvPicPr>
          <p:nvPr/>
        </p:nvPicPr>
        <p:blipFill>
          <a:blip r:embed="rId4"/>
          <a:srcRect l="12959" t="33503" r="10837" b="31805"/>
          <a:stretch/>
        </p:blipFill>
        <p:spPr bwMode="auto">
          <a:xfrm flipH="0" flipV="0">
            <a:off x="47645" y="5954022"/>
            <a:ext cx="2605366" cy="8895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6030715" name=""/>
          <p:cNvSpPr/>
          <p:nvPr/>
        </p:nvSpPr>
        <p:spPr bwMode="auto">
          <a:xfrm flipH="0" flipV="0">
            <a:off x="-14733" y="-3735"/>
            <a:ext cx="9484822" cy="737719"/>
          </a:xfrm>
          <a:prstGeom prst="flowChartProcess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100000">
                <a:schemeClr val="bg1"/>
              </a:gs>
            </a:gsLst>
            <a:lin ang="0" scaled="1"/>
          </a:gra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3601934" name=""/>
          <p:cNvSpPr/>
          <p:nvPr/>
        </p:nvSpPr>
        <p:spPr bwMode="auto">
          <a:xfrm flipH="0" flipV="0">
            <a:off x="2709042" y="6105849"/>
            <a:ext cx="9484822" cy="737719"/>
          </a:xfrm>
          <a:prstGeom prst="flowChartProcess">
            <a:avLst/>
          </a:prstGeom>
          <a:gradFill>
            <a:gsLst>
              <a:gs pos="0">
                <a:schemeClr val="bg1"/>
              </a:gs>
              <a:gs pos="100000">
                <a:schemeClr val="accent2">
                  <a:lumMod val="75000"/>
                </a:schemeClr>
              </a:gs>
            </a:gsLst>
            <a:lin ang="0" scaled="1"/>
          </a:gra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491894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Results, trajectory length 4</a:t>
            </a:r>
            <a:endParaRPr/>
          </a:p>
        </p:txBody>
      </p:sp>
      <p:sp>
        <p:nvSpPr>
          <p:cNvPr id="113759571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494597173" name=""/>
          <p:cNvPicPr>
            <a:picLocks noChangeAspect="1"/>
          </p:cNvPicPr>
          <p:nvPr/>
        </p:nvPicPr>
        <p:blipFill>
          <a:blip r:embed="rId3"/>
          <a:srcRect l="12959" t="33503" r="10837" b="31805"/>
          <a:stretch/>
        </p:blipFill>
        <p:spPr bwMode="auto">
          <a:xfrm flipH="0" flipV="0">
            <a:off x="47645" y="5954022"/>
            <a:ext cx="2605366" cy="889547"/>
          </a:xfrm>
          <a:prstGeom prst="rect">
            <a:avLst/>
          </a:prstGeom>
        </p:spPr>
      </p:pic>
      <p:pic>
        <p:nvPicPr>
          <p:cNvPr id="50911670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016" y="1460958"/>
            <a:ext cx="12185966" cy="50806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0464651" name=""/>
          <p:cNvSpPr/>
          <p:nvPr/>
        </p:nvSpPr>
        <p:spPr bwMode="auto">
          <a:xfrm flipH="0" flipV="0">
            <a:off x="-14733" y="-3735"/>
            <a:ext cx="9484822" cy="737719"/>
          </a:xfrm>
          <a:prstGeom prst="flowChartProcess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100000">
                <a:schemeClr val="bg1"/>
              </a:gs>
            </a:gsLst>
            <a:lin ang="0" scaled="1"/>
          </a:gra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8937534" name=""/>
          <p:cNvSpPr/>
          <p:nvPr/>
        </p:nvSpPr>
        <p:spPr bwMode="auto">
          <a:xfrm flipH="0" flipV="0">
            <a:off x="2709042" y="6105849"/>
            <a:ext cx="9484822" cy="737719"/>
          </a:xfrm>
          <a:prstGeom prst="flowChartProcess">
            <a:avLst/>
          </a:prstGeom>
          <a:gradFill>
            <a:gsLst>
              <a:gs pos="0">
                <a:schemeClr val="bg1"/>
              </a:gs>
              <a:gs pos="100000">
                <a:schemeClr val="accent2">
                  <a:lumMod val="75000"/>
                </a:schemeClr>
              </a:gs>
            </a:gsLst>
            <a:lin ang="0" scaled="1"/>
          </a:gra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5550998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Results, trajectory length 4</a:t>
            </a:r>
            <a:endParaRPr/>
          </a:p>
        </p:txBody>
      </p:sp>
      <p:pic>
        <p:nvPicPr>
          <p:cNvPr id="20536255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334705" y="1416260"/>
            <a:ext cx="5360146" cy="5286444"/>
          </a:xfrm>
          <a:prstGeom prst="rect">
            <a:avLst/>
          </a:prstGeom>
        </p:spPr>
      </p:pic>
      <p:pic>
        <p:nvPicPr>
          <p:cNvPr id="1831932081" name=""/>
          <p:cNvPicPr>
            <a:picLocks noChangeAspect="1"/>
          </p:cNvPicPr>
          <p:nvPr/>
        </p:nvPicPr>
        <p:blipFill>
          <a:blip r:embed="rId4"/>
          <a:srcRect l="12959" t="33503" r="10837" b="31805"/>
          <a:stretch/>
        </p:blipFill>
        <p:spPr bwMode="auto">
          <a:xfrm flipH="0" flipV="0">
            <a:off x="47645" y="5954023"/>
            <a:ext cx="2605367" cy="8895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432467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Model version 3</a:t>
            </a:r>
            <a:endParaRPr/>
          </a:p>
        </p:txBody>
      </p:sp>
      <p:sp>
        <p:nvSpPr>
          <p:cNvPr id="51557985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Adding logic to avoid forbidden pixels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Investigating two approaches:</a:t>
            </a:r>
            <a:endParaRPr/>
          </a:p>
          <a:p>
            <a:pPr lvl="1">
              <a:defRPr/>
            </a:pPr>
            <a:r>
              <a:rPr/>
              <a:t>Direct input to the architecture</a:t>
            </a:r>
            <a:endParaRPr/>
          </a:p>
          <a:p>
            <a:pPr lvl="1">
              <a:defRPr/>
            </a:pPr>
            <a:r>
              <a:rPr/>
              <a:t>Loss function</a:t>
            </a:r>
            <a:r>
              <a:rPr/>
              <a:t> penalty function</a:t>
            </a:r>
            <a:endParaRPr/>
          </a:p>
        </p:txBody>
      </p:sp>
      <p:sp>
        <p:nvSpPr>
          <p:cNvPr id="1026424086" name=""/>
          <p:cNvSpPr/>
          <p:nvPr/>
        </p:nvSpPr>
        <p:spPr bwMode="auto">
          <a:xfrm flipH="0" flipV="0">
            <a:off x="-14733" y="-3735"/>
            <a:ext cx="9484821" cy="737718"/>
          </a:xfrm>
          <a:prstGeom prst="flowChartProcess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100000">
                <a:schemeClr val="bg1"/>
              </a:gs>
            </a:gsLst>
            <a:lin ang="0" scaled="1"/>
          </a:gra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76287630" name=""/>
          <p:cNvSpPr/>
          <p:nvPr/>
        </p:nvSpPr>
        <p:spPr bwMode="auto">
          <a:xfrm flipH="0" flipV="0">
            <a:off x="2709041" y="6105848"/>
            <a:ext cx="9484821" cy="737718"/>
          </a:xfrm>
          <a:prstGeom prst="flowChartProcess">
            <a:avLst/>
          </a:prstGeom>
          <a:gradFill>
            <a:gsLst>
              <a:gs pos="0">
                <a:schemeClr val="bg1"/>
              </a:gs>
              <a:gs pos="100000">
                <a:schemeClr val="accent2">
                  <a:lumMod val="75000"/>
                </a:schemeClr>
              </a:gs>
            </a:gsLst>
            <a:lin ang="0" scaled="1"/>
          </a:gra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534959360" name=""/>
          <p:cNvPicPr>
            <a:picLocks noChangeAspect="1"/>
          </p:cNvPicPr>
          <p:nvPr/>
        </p:nvPicPr>
        <p:blipFill>
          <a:blip r:embed="rId3"/>
          <a:srcRect l="12959" t="33503" r="10837" b="31805"/>
          <a:stretch/>
        </p:blipFill>
        <p:spPr bwMode="auto">
          <a:xfrm flipH="0" flipV="0">
            <a:off x="47644" y="5954022"/>
            <a:ext cx="2605366" cy="8895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497177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9" y="365124"/>
            <a:ext cx="4119445" cy="2103976"/>
          </a:xfrm>
        </p:spPr>
        <p:txBody>
          <a:bodyPr/>
          <a:lstStyle/>
          <a:p>
            <a:pPr>
              <a:defRPr/>
            </a:pPr>
            <a:r>
              <a:rPr/>
              <a:t>Model version 3</a:t>
            </a:r>
            <a:r>
              <a:rPr/>
              <a:t> direct input</a:t>
            </a:r>
            <a:endParaRPr/>
          </a:p>
        </p:txBody>
      </p:sp>
      <p:sp>
        <p:nvSpPr>
          <p:cNvPr id="1096494386" name=""/>
          <p:cNvSpPr/>
          <p:nvPr/>
        </p:nvSpPr>
        <p:spPr bwMode="auto">
          <a:xfrm flipH="0" flipV="0">
            <a:off x="-14733" y="-3735"/>
            <a:ext cx="9484821" cy="737718"/>
          </a:xfrm>
          <a:prstGeom prst="flowChartProcess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100000">
                <a:schemeClr val="bg1"/>
              </a:gs>
            </a:gsLst>
            <a:lin ang="0" scaled="1"/>
          </a:gra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4054472" name=""/>
          <p:cNvSpPr/>
          <p:nvPr/>
        </p:nvSpPr>
        <p:spPr bwMode="auto">
          <a:xfrm flipH="0" flipV="0">
            <a:off x="2709041" y="6105848"/>
            <a:ext cx="9484821" cy="737718"/>
          </a:xfrm>
          <a:prstGeom prst="flowChartProcess">
            <a:avLst/>
          </a:prstGeom>
          <a:gradFill>
            <a:gsLst>
              <a:gs pos="0">
                <a:schemeClr val="bg1"/>
              </a:gs>
              <a:gs pos="100000">
                <a:schemeClr val="accent2">
                  <a:lumMod val="75000"/>
                </a:schemeClr>
              </a:gs>
            </a:gsLst>
            <a:lin ang="0" scaled="1"/>
          </a:gra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858576148" name=""/>
          <p:cNvPicPr>
            <a:picLocks noChangeAspect="1"/>
          </p:cNvPicPr>
          <p:nvPr/>
        </p:nvPicPr>
        <p:blipFill>
          <a:blip r:embed="rId3"/>
          <a:srcRect l="12959" t="33503" r="10837" b="31805"/>
          <a:stretch/>
        </p:blipFill>
        <p:spPr bwMode="auto">
          <a:xfrm flipH="0" flipV="0">
            <a:off x="47644" y="5954022"/>
            <a:ext cx="2605366" cy="889547"/>
          </a:xfrm>
          <a:prstGeom prst="rect">
            <a:avLst/>
          </a:prstGeom>
        </p:spPr>
      </p:pic>
      <p:pic>
        <p:nvPicPr>
          <p:cNvPr id="16000134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434219" y="-3734"/>
            <a:ext cx="4742410" cy="6893723"/>
          </a:xfrm>
          <a:prstGeom prst="rect">
            <a:avLst/>
          </a:prstGeom>
        </p:spPr>
      </p:pic>
      <p:sp>
        <p:nvSpPr>
          <p:cNvPr id="66257630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7644" y="2219417"/>
            <a:ext cx="3957500" cy="395754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 lvl="1">
              <a:defRPr/>
            </a:pPr>
            <a:r>
              <a:rPr/>
              <a:t>A custom layer is added that calculates the pairwise distances between each coordinate of the input trajectories with the allowable pixels.</a:t>
            </a:r>
            <a:endParaRPr/>
          </a:p>
          <a:p>
            <a:pPr lvl="1">
              <a:defRPr/>
            </a:pPr>
            <a:r>
              <a:rPr/>
              <a:t>The distance is calculated by L1 norm that passes through two mirrored Sigmoid functions to make distance positive and more sensitive value differences.</a:t>
            </a:r>
            <a:endParaRPr/>
          </a:p>
        </p:txBody>
      </p:sp>
      <p:pic>
        <p:nvPicPr>
          <p:cNvPr id="173238891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4075185" y="3058432"/>
            <a:ext cx="2691946" cy="22795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2810467" name=""/>
          <p:cNvSpPr/>
          <p:nvPr/>
        </p:nvSpPr>
        <p:spPr bwMode="auto">
          <a:xfrm flipH="0" flipV="0">
            <a:off x="-14733" y="-3735"/>
            <a:ext cx="9484821" cy="737718"/>
          </a:xfrm>
          <a:prstGeom prst="flowChartProcess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100000">
                <a:schemeClr val="bg1"/>
              </a:gs>
            </a:gsLst>
            <a:lin ang="0" scaled="1"/>
          </a:gra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02957827" name=""/>
          <p:cNvSpPr/>
          <p:nvPr/>
        </p:nvSpPr>
        <p:spPr bwMode="auto">
          <a:xfrm flipH="0" flipV="0">
            <a:off x="2709041" y="6105848"/>
            <a:ext cx="9484821" cy="737718"/>
          </a:xfrm>
          <a:prstGeom prst="flowChartProcess">
            <a:avLst/>
          </a:prstGeom>
          <a:gradFill>
            <a:gsLst>
              <a:gs pos="0">
                <a:schemeClr val="bg1"/>
              </a:gs>
              <a:gs pos="100000">
                <a:schemeClr val="accent2">
                  <a:lumMod val="75000"/>
                </a:schemeClr>
              </a:gs>
            </a:gsLst>
            <a:lin ang="0" scaled="1"/>
          </a:gra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050487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76650" y="966216"/>
            <a:ext cx="5372839" cy="1325562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/>
              <a:t>Results, </a:t>
            </a:r>
            <a:r>
              <a:rPr lang="en-US" sz="4400" b="0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 version 3</a:t>
            </a:r>
            <a:r>
              <a:rPr lang="en-US" sz="4400" b="0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direct input</a:t>
            </a:r>
            <a:endParaRPr/>
          </a:p>
        </p:txBody>
      </p:sp>
      <p:pic>
        <p:nvPicPr>
          <p:cNvPr id="663741464" name=""/>
          <p:cNvPicPr>
            <a:picLocks noChangeAspect="1"/>
          </p:cNvPicPr>
          <p:nvPr/>
        </p:nvPicPr>
        <p:blipFill>
          <a:blip r:embed="rId3"/>
          <a:srcRect l="12959" t="33503" r="10837" b="31805"/>
          <a:stretch/>
        </p:blipFill>
        <p:spPr bwMode="auto">
          <a:xfrm flipH="0" flipV="0">
            <a:off x="47644" y="5954022"/>
            <a:ext cx="2605366" cy="889547"/>
          </a:xfrm>
          <a:prstGeom prst="rect">
            <a:avLst/>
          </a:prstGeom>
        </p:spPr>
      </p:pic>
      <p:pic>
        <p:nvPicPr>
          <p:cNvPr id="12817738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788980" y="365124"/>
            <a:ext cx="5953124" cy="5857875"/>
          </a:xfrm>
          <a:prstGeom prst="rect">
            <a:avLst/>
          </a:prstGeom>
        </p:spPr>
      </p:pic>
      <p:sp>
        <p:nvSpPr>
          <p:cNvPr id="773947472" name=""/>
          <p:cNvSpPr txBox="1"/>
          <p:nvPr/>
        </p:nvSpPr>
        <p:spPr bwMode="auto">
          <a:xfrm flipH="0" flipV="0">
            <a:off x="626087" y="2378982"/>
            <a:ext cx="416626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Runtime: 33 seconds on RTX 3060 Ti</a:t>
            </a:r>
            <a:endParaRPr/>
          </a:p>
          <a:p>
            <a:pPr>
              <a:defRPr/>
            </a:pPr>
            <a:r>
              <a:rPr/>
              <a:t>Loss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plateau</a:t>
            </a:r>
            <a:r>
              <a:rPr/>
              <a:t>s instead of going to 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366461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 version 3</a:t>
            </a:r>
            <a:r>
              <a:rPr lang="en-US" sz="4400" b="0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Loss function</a:t>
            </a:r>
            <a:endParaRPr/>
          </a:p>
        </p:txBody>
      </p:sp>
      <p:sp>
        <p:nvSpPr>
          <p:cNvPr id="997493632" name="Content Placeholder 2"/>
          <p:cNvSpPr>
            <a:spLocks noGrp="1"/>
          </p:cNvSpPr>
          <p:nvPr>
            <p:ph idx="1"/>
          </p:nvPr>
        </p:nvSpPr>
        <p:spPr bwMode="auto">
          <a:xfrm>
            <a:off x="838199" y="1548197"/>
            <a:ext cx="10515600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/>
              <a:t>A penalty terms added to the L1 loss.</a:t>
            </a:r>
            <a:endParaRPr/>
          </a:p>
          <a:p>
            <a:pPr>
              <a:defRPr/>
            </a:pPr>
            <a:r>
              <a:rPr/>
              <a:t>Penalty is the same distance calculated in previous model but the inverse is used because we want to maximize the distance passed through activation fcn.</a:t>
            </a:r>
            <a:endParaRPr/>
          </a:p>
          <a:p>
            <a:pPr>
              <a:defRPr/>
            </a:pPr>
            <a:r>
              <a:rPr/>
              <a:t>Loss=MAE+sum(1/(0.01+actFcn(dist_i)))</a:t>
            </a:r>
            <a:endParaRPr/>
          </a:p>
          <a:p>
            <a:pPr>
              <a:defRPr/>
            </a:pPr>
            <a:r>
              <a:rPr/>
              <a:t>Adding simple penalty term fails. The model outputs similar to Model version 2</a:t>
            </a:r>
            <a:r>
              <a:rPr/>
              <a:t>.</a:t>
            </a:r>
            <a:endParaRPr/>
          </a:p>
          <a:p>
            <a:pPr>
              <a:defRPr/>
            </a:pPr>
            <a:r>
              <a:rPr/>
              <a:t>The “noise time” is added to the penalty term such that if noise is high, the penalty is relaxed.</a:t>
            </a:r>
            <a:endParaRPr/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Loss=MAE+sum(1/(0.01+actFcn(dist_i)*t_i))</a:t>
            </a:r>
            <a:endParaRPr/>
          </a:p>
        </p:txBody>
      </p:sp>
      <p:sp>
        <p:nvSpPr>
          <p:cNvPr id="1185260049" name=""/>
          <p:cNvSpPr/>
          <p:nvPr/>
        </p:nvSpPr>
        <p:spPr bwMode="auto">
          <a:xfrm flipH="0" flipV="0">
            <a:off x="-14733" y="-3735"/>
            <a:ext cx="9484821" cy="737718"/>
          </a:xfrm>
          <a:prstGeom prst="flowChartProcess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100000">
                <a:schemeClr val="bg1"/>
              </a:gs>
            </a:gsLst>
            <a:lin ang="0" scaled="1"/>
          </a:gra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8461661" name=""/>
          <p:cNvSpPr/>
          <p:nvPr/>
        </p:nvSpPr>
        <p:spPr bwMode="auto">
          <a:xfrm flipH="0" flipV="0">
            <a:off x="2709041" y="6105848"/>
            <a:ext cx="9484821" cy="737718"/>
          </a:xfrm>
          <a:prstGeom prst="flowChartProcess">
            <a:avLst/>
          </a:prstGeom>
          <a:gradFill>
            <a:gsLst>
              <a:gs pos="0">
                <a:schemeClr val="bg1"/>
              </a:gs>
              <a:gs pos="100000">
                <a:schemeClr val="accent2">
                  <a:lumMod val="75000"/>
                </a:schemeClr>
              </a:gs>
            </a:gsLst>
            <a:lin ang="0" scaled="1"/>
          </a:gra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22546134" name=""/>
          <p:cNvPicPr>
            <a:picLocks noChangeAspect="1"/>
          </p:cNvPicPr>
          <p:nvPr/>
        </p:nvPicPr>
        <p:blipFill>
          <a:blip r:embed="rId3"/>
          <a:srcRect l="12959" t="33503" r="10837" b="31805"/>
          <a:stretch/>
        </p:blipFill>
        <p:spPr bwMode="auto">
          <a:xfrm flipH="0" flipV="0">
            <a:off x="47644" y="5954022"/>
            <a:ext cx="2605366" cy="8895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4988641" name=""/>
          <p:cNvSpPr/>
          <p:nvPr/>
        </p:nvSpPr>
        <p:spPr bwMode="auto">
          <a:xfrm flipH="0" flipV="0">
            <a:off x="-14733" y="-3735"/>
            <a:ext cx="9484821" cy="737718"/>
          </a:xfrm>
          <a:prstGeom prst="flowChartProcess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100000">
                <a:schemeClr val="bg1"/>
              </a:gs>
            </a:gsLst>
            <a:lin ang="0" scaled="1"/>
          </a:gra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1195943" name=""/>
          <p:cNvSpPr/>
          <p:nvPr/>
        </p:nvSpPr>
        <p:spPr bwMode="auto">
          <a:xfrm flipH="0" flipV="0">
            <a:off x="2709041" y="6105848"/>
            <a:ext cx="9484821" cy="737718"/>
          </a:xfrm>
          <a:prstGeom prst="flowChartProcess">
            <a:avLst/>
          </a:prstGeom>
          <a:gradFill>
            <a:gsLst>
              <a:gs pos="0">
                <a:schemeClr val="bg1"/>
              </a:gs>
              <a:gs pos="100000">
                <a:schemeClr val="accent2">
                  <a:lumMod val="75000"/>
                </a:schemeClr>
              </a:gs>
            </a:gsLst>
            <a:lin ang="0" scaled="1"/>
          </a:gra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1555738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76649" y="966216"/>
            <a:ext cx="5372838" cy="1325562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/>
              <a:t>Results, </a:t>
            </a: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Model version 3</a:t>
            </a: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Loss function</a:t>
            </a:r>
            <a:endParaRPr/>
          </a:p>
        </p:txBody>
      </p:sp>
      <p:pic>
        <p:nvPicPr>
          <p:cNvPr id="1450238484" name=""/>
          <p:cNvPicPr>
            <a:picLocks noChangeAspect="1"/>
          </p:cNvPicPr>
          <p:nvPr/>
        </p:nvPicPr>
        <p:blipFill>
          <a:blip r:embed="rId3"/>
          <a:srcRect l="12959" t="33503" r="10837" b="31805"/>
          <a:stretch/>
        </p:blipFill>
        <p:spPr bwMode="auto">
          <a:xfrm flipH="0" flipV="0">
            <a:off x="47644" y="5954022"/>
            <a:ext cx="2605366" cy="889547"/>
          </a:xfrm>
          <a:prstGeom prst="rect">
            <a:avLst/>
          </a:prstGeom>
        </p:spPr>
      </p:pic>
      <p:sp>
        <p:nvSpPr>
          <p:cNvPr id="548540902" name=""/>
          <p:cNvSpPr txBox="1"/>
          <p:nvPr/>
        </p:nvSpPr>
        <p:spPr bwMode="auto">
          <a:xfrm flipH="0" flipV="0">
            <a:off x="626087" y="2378981"/>
            <a:ext cx="4168067" cy="9147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Runtime: ? seconds on RTX 3060 Ti</a:t>
            </a:r>
            <a:endParaRPr/>
          </a:p>
          <a:p>
            <a:pPr>
              <a:defRPr/>
            </a:pPr>
            <a:r>
              <a:rPr/>
              <a:t>Loss ?</a:t>
            </a:r>
            <a:endParaRPr/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progress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4995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ONNX conversion</a:t>
            </a:r>
            <a:endParaRPr/>
          </a:p>
        </p:txBody>
      </p:sp>
      <p:sp>
        <p:nvSpPr>
          <p:cNvPr id="108828631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The model is converted in ONNX to be used in Java</a:t>
            </a:r>
            <a:endParaRPr/>
          </a:p>
          <a:p>
            <a:pPr>
              <a:defRPr/>
            </a:pPr>
            <a:r>
              <a:rPr/>
              <a:t>ONNX can convert both tensorflow and pytorch models into a generic form that can be used in many programming languages.</a:t>
            </a:r>
            <a:endParaRPr/>
          </a:p>
          <a:p>
            <a:pPr>
              <a:defRPr/>
            </a:pPr>
            <a:r>
              <a:rPr/>
              <a:t>In progress</a:t>
            </a:r>
            <a:endParaRPr/>
          </a:p>
        </p:txBody>
      </p:sp>
      <p:sp>
        <p:nvSpPr>
          <p:cNvPr id="1779775890" name=""/>
          <p:cNvSpPr/>
          <p:nvPr/>
        </p:nvSpPr>
        <p:spPr bwMode="auto">
          <a:xfrm flipH="0" flipV="0">
            <a:off x="-14733" y="-3735"/>
            <a:ext cx="9484821" cy="737718"/>
          </a:xfrm>
          <a:prstGeom prst="flowChartProcess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100000">
                <a:schemeClr val="bg1"/>
              </a:gs>
            </a:gsLst>
            <a:lin ang="0" scaled="1"/>
          </a:gra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18818254" name=""/>
          <p:cNvSpPr/>
          <p:nvPr/>
        </p:nvSpPr>
        <p:spPr bwMode="auto">
          <a:xfrm flipH="0" flipV="0">
            <a:off x="2709041" y="6105848"/>
            <a:ext cx="9484821" cy="737718"/>
          </a:xfrm>
          <a:prstGeom prst="flowChartProcess">
            <a:avLst/>
          </a:prstGeom>
          <a:gradFill>
            <a:gsLst>
              <a:gs pos="0">
                <a:schemeClr val="bg1"/>
              </a:gs>
              <a:gs pos="100000">
                <a:schemeClr val="accent2">
                  <a:lumMod val="75000"/>
                </a:schemeClr>
              </a:gs>
            </a:gsLst>
            <a:lin ang="0" scaled="1"/>
          </a:gra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56972188" name=""/>
          <p:cNvPicPr>
            <a:picLocks noChangeAspect="1"/>
          </p:cNvPicPr>
          <p:nvPr/>
        </p:nvPicPr>
        <p:blipFill>
          <a:blip r:embed="rId3"/>
          <a:srcRect l="12959" t="33503" r="10837" b="31805"/>
          <a:stretch/>
        </p:blipFill>
        <p:spPr bwMode="auto">
          <a:xfrm flipH="0" flipV="0">
            <a:off x="47644" y="5954022"/>
            <a:ext cx="2605366" cy="8895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ONLYOFFICE/8.3.1.25</Application>
  <PresentationFormat>On-screen Show (4:3)</PresentationFormat>
  <Paragraphs>0</Paragraphs>
  <Slides>15</Slides>
  <Notes>15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modified xsi:type="dcterms:W3CDTF">2025-03-19T20:57:02Z</dcterms:modified>
</cp:coreProperties>
</file>